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días. Presentamos el perfil de proyecto de un sistema IoT para el monitoreo, control remoto y gestión energética de una terma doméstica, con asistente virtual. (≈40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exposición sigue la estructura obligatoria solicitada: introducción, problemática, marco teórico, estado del arte, metodología y objetivos y alcances. Duración estimada: 15 minutos. (≈30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el contexto: IoT y gestión energética del hogar; la terma como carga de alta potencia (típicamente 1,5–3 kW, valor ilustrativo) y de control manual. Enunciar la propuesta. (≈60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Describir las tres fallas: control manual, falta de información y requisitos de seguridad eléctrica. Cerrar con la justificación económica, tecnológica y de sostenibilidad. Referencias: Bhati et al. 2017; Ford et al. 2017; Zipperer et al. 2013. (≈90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las tres capas y el rol del procesamiento previo en el propio nodo (edge computing, Shi et al. 2016; Al-Fuqaha et al. 2015). MQTT como protocolo ligero publicador/suscriptor. (≈75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Relacionar la teoría con el proyecto: cálculo de potencia y energía; NILM aplicado a una carga única; sensores digitales y de pulsos; SSR como actuador seguro; edge computing y MQTT. (≈70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brevemente los ocho trabajos agrupados: gestión energética y adopción (A1–A5) y medición de cargas / bajo costo (A6–A8). No leer la tabla completa; destacar A3, A6 y A8. (≈70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Punto de inflexión de la presentación: los trabajos previos cubren partes del problema, pero ninguno integra todo para la terma doméstica. Aquí se justifica la novedad del proyecto. (≈45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Describir el flujo extremo a extremo y el bucle de control cerrado. Enfatizar que las reglas de seguridad se evalúan localmente en el nodo. (≈65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la lista de materiales destacando los mínimos exigidos. Mencionar que se prioriza bajo costo y componentes estándar (YF-S201, SCT-013, DS18B20, ESP32, SSR) disponibles en tiendas locales. (≈70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Justificar la elección del ESP32 frente a ESP8266 (menos periféricos) y Raspberry Pi (mayor costo y consumo). Los valores de costo son estimaciones. (≈70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el diagrama de bloques: los tres sensores alimentan al ESP32, que procesa localmente; el SSR conmuta la terma y el buzzer alerta. La comunicación Wi-Fi/MQTT conecta con la nube/dashboard y el asistente virtual. (≈75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el objetivo general y resumir los específicos en dos bloques: adquisición/procesamiento/comunicación y control/reglas/validación. Señalar que OE7 es opcional y de segunda etapa. (≈75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Definir las fronteras operativas: qué hace el prototipo y qué queda fuera. Aclarar la prioridad de implementación: sensado → actuación → dashboard; el asistente virtual es paralelo y opcional. (≈70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las conclusiones y la hoja de ruta de implementación. Dar paso a la ronda de preguntas. (≈40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Agradecer y abrir la ronda de preguntas. Tener a mano el informe para respaldar detalles técnicos (referencias, especificaciones de sensores y diagrama de bloques).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77700"/>
                </a:solidFill>
                <a:latin typeface="Segoe UI"/>
              </a:rPr>
              <a:t>PERFIL DE PROYECTO  ·  INGENIERÍA ELECTRÓNICA /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5156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Sistema IoT Inteligente para el Monitoreo, Control Remoto y Gestión Energética de una Terma Doméstica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000" b="1" i="0">
                <a:solidFill>
                  <a:srgbClr val="B9CED4"/>
                </a:solidFill>
                <a:latin typeface="Segoe UI"/>
              </a:rPr>
              <a:t>mediante Asistente Virtual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617720"/>
            <a:ext cx="7863840" cy="12344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3C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773168"/>
            <a:ext cx="74066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C9D8DC"/>
                </a:solidFill>
                <a:latin typeface="Segoe UI"/>
              </a:rPr>
              <a:t>Curso: ________________     Docente: ________________</a:t>
            </a:r>
          </a:p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C9D8DC"/>
                </a:solidFill>
                <a:latin typeface="Segoe UI"/>
              </a:rPr>
              <a:t>Integrantes: ________________     Fecha: 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19963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FA0A8"/>
                </a:solidFill>
                <a:latin typeface="Segoe UI"/>
              </a:rPr>
              <a:t>Prototipo de bajo costo con ESP32 · 3 sensores · 1 actuador (SSR) · comunicación inalámbrica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C77700"/>
                </a:solidFill>
                <a:latin typeface="Segoe U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4C5C"/>
                </a:solidFill>
                <a:latin typeface="Segoe UI"/>
              </a:rPr>
              <a:t>Contenido de la exposición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3474720" cy="1965960"/>
          </a:xfrm>
          <a:prstGeom prst="roundRect">
            <a:avLst>
              <a:gd name="adj" fmla="val 6000"/>
            </a:avLst>
          </a:prstGeom>
          <a:solidFill>
            <a:srgbClr val="E3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85415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77700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43784"/>
            <a:ext cx="28346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E4C5C"/>
                </a:solidFill>
                <a:latin typeface="Segoe UI"/>
              </a:rPr>
              <a:t>Introducción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74519"/>
            <a:ext cx="3474720" cy="1965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185415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77700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843784"/>
            <a:ext cx="28346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E4C5C"/>
                </a:solidFill>
                <a:latin typeface="Segoe UI"/>
              </a:rPr>
              <a:t>Problemática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874519"/>
            <a:ext cx="3474720" cy="1965960"/>
          </a:xfrm>
          <a:prstGeom prst="roundRect">
            <a:avLst>
              <a:gd name="adj" fmla="val 6000"/>
            </a:avLst>
          </a:prstGeom>
          <a:solidFill>
            <a:srgbClr val="E3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185415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77700"/>
                </a:solidFill>
                <a:latin typeface="Segoe U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843784"/>
            <a:ext cx="28346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E4C5C"/>
                </a:solidFill>
                <a:latin typeface="Segoe UI"/>
              </a:rPr>
              <a:t>Marco Teórico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51960"/>
            <a:ext cx="3474720" cy="1965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6285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77700"/>
                </a:solidFill>
                <a:latin typeface="Segoe U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21224"/>
            <a:ext cx="28346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E4C5C"/>
                </a:solidFill>
                <a:latin typeface="Segoe UI"/>
              </a:rPr>
              <a:t>Estado del Arte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251960"/>
            <a:ext cx="3474720" cy="1965960"/>
          </a:xfrm>
          <a:prstGeom prst="roundRect">
            <a:avLst>
              <a:gd name="adj" fmla="val 6000"/>
            </a:avLst>
          </a:prstGeom>
          <a:solidFill>
            <a:srgbClr val="E3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56285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77700"/>
                </a:solidFill>
                <a:latin typeface="Segoe U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5221224"/>
            <a:ext cx="28346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E4C5C"/>
                </a:solidFill>
                <a:latin typeface="Segoe UI"/>
              </a:rPr>
              <a:t>Metodología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4251960"/>
            <a:ext cx="3474720" cy="1965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56285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77700"/>
                </a:solidFill>
                <a:latin typeface="Segoe U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221224"/>
            <a:ext cx="28346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E4C5C"/>
                </a:solidFill>
                <a:latin typeface="Segoe UI"/>
              </a:rPr>
              <a:t>Objetivos y Alcances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743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D6E7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C77700"/>
                </a:solidFill>
                <a:latin typeface="Segoe UI"/>
              </a:rPr>
              <a:t>01 · 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4C5C"/>
                </a:solidFill>
                <a:latin typeface="Segoe UI"/>
              </a:rPr>
              <a:t>Contextualización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676656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1400"/>
              </a:spcAft>
            </a:pPr>
            <a:r>
              <a:rPr sz="1700" b="0" i="0">
                <a:solidFill>
                  <a:srgbClr val="1B2A32"/>
                </a:solidFill>
                <a:latin typeface="Segoe UI"/>
              </a:rPr>
              <a:t>El IoT conecta objetos cotidianos que </a:t>
            </a:r>
            <a:r>
              <a:rPr sz="1700" b="1" i="0">
                <a:solidFill>
                  <a:srgbClr val="0E4C5C"/>
                </a:solidFill>
                <a:latin typeface="Segoe UI"/>
              </a:rPr>
              <a:t>miden, comunican y actúan</a:t>
            </a:r>
            <a:r>
              <a:rPr sz="1700" b="0" i="0">
                <a:solidFill>
                  <a:srgbClr val="1B2A32"/>
                </a:solidFill>
                <a:latin typeface="Segoe UI"/>
              </a:rPr>
              <a:t> sobre su entorno, habilitando el hogar inteligente y la gestión energética doméstica (HEM).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</a:pPr>
            <a:r>
              <a:rPr sz="1700" b="0" i="0">
                <a:solidFill>
                  <a:srgbClr val="1B2A32"/>
                </a:solidFill>
                <a:latin typeface="Segoe UI"/>
              </a:rPr>
              <a:t>La terma eléctrica es una de las cargas de mayor demanda del hogar y su operación suele depender de un </a:t>
            </a:r>
            <a:r>
              <a:rPr sz="1700" b="1" i="0">
                <a:solidFill>
                  <a:srgbClr val="0E4C5C"/>
                </a:solidFill>
                <a:latin typeface="Segoe UI"/>
              </a:rPr>
              <a:t>interruptor manual</a:t>
            </a:r>
            <a:r>
              <a:rPr sz="1700" b="0" i="0">
                <a:solidFill>
                  <a:srgbClr val="1B2A32"/>
                </a:solidFill>
                <a:latin typeface="Segoe UI"/>
              </a:rPr>
              <a:t> y de la memoria del usuario.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</a:pPr>
            <a:r>
              <a:rPr sz="1700" b="0" i="0">
                <a:solidFill>
                  <a:srgbClr val="1B2A32"/>
                </a:solidFill>
                <a:latin typeface="Segoe UI"/>
              </a:rPr>
              <a:t>El proyecto propone un </a:t>
            </a:r>
            <a:r>
              <a:rPr sz="1700" b="1" i="0">
                <a:solidFill>
                  <a:srgbClr val="0E4C5C"/>
                </a:solidFill>
                <a:latin typeface="Segoe UI"/>
              </a:rPr>
              <a:t>prototipo funcional de terma inteligente</a:t>
            </a:r>
            <a:r>
              <a:rPr sz="1700" b="0" i="0">
                <a:solidFill>
                  <a:srgbClr val="1B2A32"/>
                </a:solidFill>
                <a:latin typeface="Segoe UI"/>
              </a:rPr>
              <a:t> con ESP32, tres sensores, un actuador y una interfaz con dashboard y asistente virtual.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600200"/>
            <a:ext cx="3931920" cy="2148840"/>
          </a:xfrm>
          <a:prstGeom prst="roundRect">
            <a:avLst>
              <a:gd name="adj" fmla="val 6000"/>
            </a:avLst>
          </a:prstGeom>
          <a:solidFill>
            <a:srgbClr val="0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874519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8BF"/>
                </a:solidFill>
                <a:latin typeface="Segoe UI"/>
              </a:rPr>
              <a:t>Potencia típica de una terma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2286000"/>
            <a:ext cx="35204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1,5 – 3,0</a:t>
            </a:r>
            <a:r>
              <a:rPr sz="1800" b="1" i="0">
                <a:solidFill>
                  <a:srgbClr val="C77700"/>
                </a:solidFill>
                <a:latin typeface="Segoe UI"/>
              </a:rPr>
              <a:t> kW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324612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8FA7AE"/>
                </a:solidFill>
                <a:latin typeface="Segoe UI"/>
              </a:rPr>
              <a:t>orden de magnitud (valor típico)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977639"/>
            <a:ext cx="3931920" cy="173736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6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4160520"/>
            <a:ext cx="35204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 i="0">
                <a:solidFill>
                  <a:srgbClr val="0E4C5C"/>
                </a:solidFill>
                <a:latin typeface="Segoe UI"/>
              </a:rPr>
              <a:t>Caso de uso principal: la terma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 i="0">
                <a:solidFill>
                  <a:srgbClr val="0E4C5C"/>
                </a:solidFill>
                <a:latin typeface="Segoe UI"/>
              </a:rPr>
              <a:t>Medición, control remoto y reglas automáticas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 i="0">
                <a:solidFill>
                  <a:srgbClr val="0E4C5C"/>
                </a:solidFill>
                <a:latin typeface="Segoe UI"/>
              </a:rPr>
              <a:t>Asistente virtual (opcional)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43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D6E7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C77700"/>
                </a:solidFill>
                <a:latin typeface="Segoe UI"/>
              </a:rPr>
              <a:t>02 · PROBLEMÁTICA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4C5C"/>
                </a:solidFill>
                <a:latin typeface="Segoe UI"/>
              </a:rPr>
              <a:t>Justificación y descripción del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5D6E76"/>
                </a:solidFill>
                <a:latin typeface="Segoe UI"/>
              </a:rPr>
              <a:t>La operación manual y no supervisada de la terma produce consumo innecesario y una experiencia deficiente.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3611880" cy="2148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487168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77700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999232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4C5C"/>
                </a:solidFill>
                <a:latin typeface="Segoe UI"/>
              </a:rPr>
              <a:t>Control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456432"/>
            <a:ext cx="30998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B2A32"/>
                </a:solidFill>
                <a:latin typeface="Segoe UI"/>
              </a:rPr>
              <a:t>Se enciende y se olvida apagar; a veces se enciende con demasiada anticipación. Consumo sin uso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240280"/>
            <a:ext cx="3611880" cy="2148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2487168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77700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999232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4C5C"/>
                </a:solidFill>
                <a:latin typeface="Segoe UI"/>
              </a:rPr>
              <a:t>Sin información en tiempo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456432"/>
            <a:ext cx="30998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B2A32"/>
                </a:solidFill>
                <a:latin typeface="Segoe UI"/>
              </a:rPr>
              <a:t>El usuario no conoce la temperatura del agua, el consumo eléctrico ni si la terma está en uso.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2240280"/>
            <a:ext cx="3611880" cy="2148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4776" y="2487168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77700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4776" y="2999232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4C5C"/>
                </a:solidFill>
                <a:latin typeface="Segoe UI"/>
              </a:rPr>
              <a:t>Riesgo eléctrico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4776" y="3456432"/>
            <a:ext cx="30998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B2A32"/>
                </a:solidFill>
                <a:latin typeface="Segoe UI"/>
              </a:rPr>
              <a:t>La carga resistiva de 220 V AC sumergida exige aislamiento y conmutación segura.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7091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4C5C"/>
                </a:solidFill>
                <a:latin typeface="Segoe UI"/>
              </a:rPr>
              <a:t>Justificación del proyecto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12064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FB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5257800"/>
            <a:ext cx="309981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4C5C"/>
                </a:solidFill>
                <a:latin typeface="Segoe UI"/>
              </a:rPr>
              <a:t>Económica · </a:t>
            </a:r>
            <a:r>
              <a:rPr sz="1400" b="0" i="0">
                <a:solidFill>
                  <a:srgbClr val="1B2A32"/>
                </a:solidFill>
                <a:latin typeface="Segoe UI"/>
              </a:rPr>
              <a:t>reduce consumo y facturación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512064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E3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5257800"/>
            <a:ext cx="309981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4C5C"/>
                </a:solidFill>
                <a:latin typeface="Segoe UI"/>
              </a:rPr>
              <a:t>Tecnológica · </a:t>
            </a:r>
            <a:r>
              <a:rPr sz="1400" b="0" i="0">
                <a:solidFill>
                  <a:srgbClr val="1B2A32"/>
                </a:solidFill>
                <a:latin typeface="Segoe UI"/>
              </a:rPr>
              <a:t>solución funcional y de bajo costo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38744" y="512064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FB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94776" y="5257800"/>
            <a:ext cx="309981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4C5C"/>
                </a:solidFill>
                <a:latin typeface="Segoe UI"/>
              </a:rPr>
              <a:t>Sostenibilidad · </a:t>
            </a:r>
            <a:r>
              <a:rPr sz="1400" b="0" i="0">
                <a:solidFill>
                  <a:srgbClr val="1B2A32"/>
                </a:solidFill>
                <a:latin typeface="Segoe UI"/>
              </a:rPr>
              <a:t>fomenta hábitos de ahorro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43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D6E7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C77700"/>
                </a:solidFill>
                <a:latin typeface="Segoe UI"/>
              </a:rPr>
              <a:t>03 · MARCO TEÓRICO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4C5C"/>
                </a:solidFill>
                <a:latin typeface="Segoe UI"/>
              </a:rPr>
              <a:t>Arquitectura IoT de tres capas con procesamiento previo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11155680" cy="1298448"/>
          </a:xfrm>
          <a:prstGeom prst="roundRect">
            <a:avLst>
              <a:gd name="adj" fmla="val 5000"/>
            </a:avLst>
          </a:prstGeom>
          <a:solidFill>
            <a:srgbClr val="E3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9280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4C5C"/>
                </a:solidFill>
                <a:latin typeface="Segoe UI"/>
              </a:rPr>
              <a:t>PERCEPCIÓN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5000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5D6E76"/>
                </a:solidFill>
                <a:latin typeface="Segoe UI"/>
              </a:rPr>
              <a:t>Sensores y actuadores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21945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32"/>
                </a:solidFill>
                <a:latin typeface="Segoe UI"/>
              </a:rPr>
              <a:t>• DS18B20 (temperatura)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1112" y="21945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32"/>
                </a:solidFill>
                <a:latin typeface="Segoe UI"/>
              </a:rPr>
              <a:t>• SCT-013 (corriente)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8744" y="21945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32"/>
                </a:solidFill>
                <a:latin typeface="Segoe UI"/>
              </a:rPr>
              <a:t>• YF-S201 (flujo)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66376" y="21945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32"/>
                </a:solidFill>
                <a:latin typeface="Segoe UI"/>
              </a:rPr>
              <a:t>• SSR (actuador)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54680"/>
            <a:ext cx="11155680" cy="129844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558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4C5C"/>
                </a:solidFill>
                <a:latin typeface="Segoe UI"/>
              </a:rPr>
              <a:t>RED Y PROCESAMIENTO PREVIO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130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5D6E76"/>
                </a:solidFill>
                <a:latin typeface="Segoe UI"/>
              </a:rPr>
              <a:t>Edge computing en el nodo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6576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32"/>
                </a:solidFill>
                <a:latin typeface="Segoe UI"/>
              </a:rPr>
              <a:t>• Acondicionamiento y filtrado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6576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32"/>
                </a:solidFill>
                <a:latin typeface="Segoe UI"/>
              </a:rPr>
              <a:t>• RMS · media móvil · pulsos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36576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32"/>
                </a:solidFill>
                <a:latin typeface="Segoe UI"/>
              </a:rPr>
              <a:t>• Wi-Fi + MQTT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617720"/>
            <a:ext cx="11155680" cy="1298448"/>
          </a:xfrm>
          <a:prstGeom prst="roundRect">
            <a:avLst>
              <a:gd name="adj" fmla="val 5000"/>
            </a:avLst>
          </a:prstGeom>
          <a:solidFill>
            <a:srgbClr val="FB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1888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4C5C"/>
                </a:solidFill>
                <a:latin typeface="Segoe UI"/>
              </a:rPr>
              <a:t>APLICACIÓN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7608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5D6E76"/>
                </a:solidFill>
                <a:latin typeface="Segoe UI"/>
              </a:rPr>
              <a:t>Servicios al usuario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51206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32"/>
                </a:solidFill>
                <a:latin typeface="Segoe UI"/>
              </a:rPr>
              <a:t>• Dashboard y métricas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51206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32"/>
                </a:solidFill>
                <a:latin typeface="Segoe UI"/>
              </a:rPr>
              <a:t>• Reglas automáticas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51206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32"/>
                </a:solidFill>
                <a:latin typeface="Segoe UI"/>
              </a:rPr>
              <a:t>• Asistente virtual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D6E76"/>
                </a:solidFill>
                <a:latin typeface="Segoe UI"/>
              </a:rPr>
              <a:t>El procesamiento previo reduce tráfico, latencia y dependencia de la nube (edge computing).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43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D6E7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C77700"/>
                </a:solidFill>
                <a:latin typeface="Segoe UI"/>
              </a:rPr>
              <a:t>03 · MARCO TEÓRICO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4C5C"/>
                </a:solidFill>
                <a:latin typeface="Segoe UI"/>
              </a:rPr>
              <a:t>Fundamentos que sustentan la propuesta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5486400" cy="1965960"/>
          </a:xfrm>
          <a:prstGeom prst="roundRect">
            <a:avLst>
              <a:gd name="adj" fmla="val 5000"/>
            </a:avLst>
          </a:prstGeom>
          <a:solidFill>
            <a:srgbClr val="0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77700"/>
                </a:solidFill>
                <a:latin typeface="Segoe UI"/>
              </a:rPr>
              <a:t>Magnitudes energéticas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P(t) = V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rms</a:t>
            </a:r>
            <a:r>
              <a:rPr sz="2000" b="1" i="0">
                <a:solidFill>
                  <a:srgbClr val="FFFFFF"/>
                </a:solidFill>
                <a:latin typeface="Segoe UI"/>
              </a:rPr>
              <a:t> · I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rms</a:t>
            </a:r>
            <a:r>
              <a:rPr sz="2000" b="1" i="0">
                <a:solidFill>
                  <a:srgbClr val="FFFFFF"/>
                </a:solidFill>
                <a:latin typeface="Segoe UI"/>
              </a:rPr>
              <a:t> · cos 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E = ∫ P(t) dt  ≈  Σ P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k</a:t>
            </a:r>
            <a:r>
              <a:rPr sz="2000" b="1" i="0">
                <a:solidFill>
                  <a:srgbClr val="FFFFFF"/>
                </a:solidFill>
                <a:latin typeface="Segoe UI"/>
              </a:rPr>
              <a:t> Δt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916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4C5C"/>
                </a:solidFill>
                <a:latin typeface="Segoe UI"/>
              </a:rPr>
              <a:t>NILM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673352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la firma de corriente permite inferir el estado de la carga (Zoha et al., 2012).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55080" y="2350008"/>
            <a:ext cx="5303520" cy="0"/>
          </a:xfrm>
          <a:prstGeom prst="line">
            <a:avLst/>
          </a:prstGeom>
          <a:ln w="12700">
            <a:solidFill>
              <a:srgbClr val="D6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55080" y="25603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4C5C"/>
                </a:solidFill>
                <a:latin typeface="Segoe UI"/>
              </a:rPr>
              <a:t>1-Wire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542032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sensado digital de temperatura con el DS18B20 (±0,5 °C).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55080" y="3218687"/>
            <a:ext cx="5303520" cy="0"/>
          </a:xfrm>
          <a:prstGeom prst="line">
            <a:avLst/>
          </a:prstGeom>
          <a:ln w="12700">
            <a:solidFill>
              <a:srgbClr val="D6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55080" y="34290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4C5C"/>
                </a:solidFill>
                <a:latin typeface="Segoe UI"/>
              </a:rPr>
              <a:t>Efecto Hall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410712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pulsos proporcionales al caudal en el YF-S201 (≈450 pulsos/L).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55080" y="4087368"/>
            <a:ext cx="5303520" cy="0"/>
          </a:xfrm>
          <a:prstGeom prst="line">
            <a:avLst/>
          </a:prstGeom>
          <a:ln w="12700">
            <a:solidFill>
              <a:srgbClr val="D6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55080" y="42976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4C5C"/>
                </a:solidFill>
                <a:latin typeface="Segoe UI"/>
              </a:rPr>
              <a:t>SSR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279392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conmutación por cruce por cero con aislamiento galvánico.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55080" y="4956048"/>
            <a:ext cx="5303520" cy="0"/>
          </a:xfrm>
          <a:prstGeom prst="line">
            <a:avLst/>
          </a:prstGeom>
          <a:ln w="12700">
            <a:solidFill>
              <a:srgbClr val="D6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55080" y="5166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4C5C"/>
                </a:solidFill>
                <a:latin typeface="Segoe UI"/>
              </a:rPr>
              <a:t>Edge / MQTT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5148072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procesamiento local y transporte ligero publicador/suscriptor.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55080" y="5824728"/>
            <a:ext cx="5303520" cy="0"/>
          </a:xfrm>
          <a:prstGeom prst="line">
            <a:avLst/>
          </a:prstGeom>
          <a:ln w="12700">
            <a:solidFill>
              <a:srgbClr val="D6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7743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D6E7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C77700"/>
                </a:solidFill>
                <a:latin typeface="Segoe UI"/>
              </a:rPr>
              <a:t>04 · ESTADO DEL 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4C5C"/>
                </a:solidFill>
                <a:latin typeface="Segoe UI"/>
              </a:rPr>
              <a:t>Ocho artículos científicos vinculados al proyecto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45920"/>
          <a:ext cx="11155678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199"/>
                <a:gridCol w="4023360"/>
                <a:gridCol w="4754880"/>
                <a:gridCol w="192023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E4C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Trabajo (autor, año)</a:t>
                      </a:r>
                    </a:p>
                  </a:txBody>
                  <a:tcPr marL="73152" marR="73152" marT="27432" marB="27432" anchor="ctr">
                    <a:solidFill>
                      <a:srgbClr val="0E4C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Aporte principal</a:t>
                      </a:r>
                    </a:p>
                  </a:txBody>
                  <a:tcPr marL="73152" marR="73152" marT="27432" marB="27432" anchor="ctr">
                    <a:solidFill>
                      <a:srgbClr val="0E4C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Brecha</a:t>
                      </a:r>
                    </a:p>
                  </a:txBody>
                  <a:tcPr marL="73152" marR="73152" marT="27432" marB="27432" anchor="ctr">
                    <a:solidFill>
                      <a:srgbClr val="0E4C5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A1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Alaa et al. (2017), J. Netw. Comput. Appl.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Taxonomía de aplicaciones del hogar IoT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Carga no específica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A2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Stojkoska y Trivodaliev (2017), J. Clean. Prod.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Retos de conectividad y protocolos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Sin control de carga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A3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Bhati et al. (2017), Energy Policy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Ahorro por feedback y automatización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Depende del contexto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A4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Ford et al. (2017), Build. Environ.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Funcionalidad de 308 productos HEM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Sin prototipo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A5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Marikyan et al. (2019), Technol. Forecast. Soc.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Factores de adopción del usuario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Revisión, no sistema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A6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Zoha et al. (2012), Sensors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Métodos NILM para identificar cargas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Alto cómputo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A7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Zipperer et al. (2013), Proc. IEEE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Tecnologías habilitantes y comportamiento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Sin prototipo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A8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El-Khozondar et al. (2024), e-Prime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Monitoreo eléctrico con ESP32 y SCT-013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Solo monitoreo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743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D6E7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77700"/>
                </a:solidFill>
                <a:latin typeface="Segoe UI"/>
              </a:rPr>
              <a:t>04 · ESTADO DEL ARTE  —  SÍNTESIS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1" i="0">
                <a:solidFill>
                  <a:srgbClr val="C77700"/>
                </a:solidFill>
                <a:latin typeface="Segoe UI"/>
              </a:rPr>
              <a:t>Vacío identificado: </a:t>
            </a:r>
            <a:r>
              <a:rPr sz="2700" b="0" i="0">
                <a:solidFill>
                  <a:srgbClr val="FFFFFF"/>
                </a:solidFill>
                <a:latin typeface="Segoe UI"/>
              </a:rPr>
              <a:t>no existe una solución específica para la </a:t>
            </a:r>
            <a:r>
              <a:rPr sz="2700" b="1" i="0">
                <a:solidFill>
                  <a:srgbClr val="C77700"/>
                </a:solidFill>
                <a:latin typeface="Segoe UI"/>
              </a:rPr>
              <a:t>terma doméstica</a:t>
            </a:r>
            <a:r>
              <a:rPr sz="2700" b="0" i="0">
                <a:solidFill>
                  <a:srgbClr val="FFFFFF"/>
                </a:solidFill>
                <a:latin typeface="Segoe UI"/>
              </a:rPr>
              <a:t> que integre simultáneamente tres variables físicas, actuación de potencia segura, comunicación inalámbrica con procesamiento previo y asistente virtual.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206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ED4"/>
                </a:solidFill>
                <a:latin typeface="Segoe UI"/>
              </a:rPr>
              <a:t>Temperatura + corriente + flujo  ·  SSR  ·  Wi-Fi/MQTT  ·  dashboard con procesamiento previo  ·  asistente virtual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94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El proyecto se posiciona exactamente en ese vacío.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C77700"/>
                </a:solidFill>
                <a:latin typeface="Segoe UI"/>
              </a:rPr>
              <a:t>05 ·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4C5C"/>
                </a:solidFill>
                <a:latin typeface="Segoe UI"/>
              </a:rPr>
              <a:t>Arquitectura y flujo de datos del sistema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2084831" cy="1965960"/>
          </a:xfrm>
          <a:prstGeom prst="roundRect">
            <a:avLst>
              <a:gd name="adj" fmla="val 6000"/>
            </a:avLst>
          </a:prstGeom>
          <a:solidFill>
            <a:srgbClr val="0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19456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77700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74320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Sensado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3218688"/>
            <a:ext cx="16824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9CED4"/>
                </a:solidFill>
                <a:latin typeface="Segoe UI"/>
              </a:rPr>
              <a:t>3 sensores
(temp · corriente · flujo)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40" y="2880360"/>
            <a:ext cx="173736" cy="0"/>
          </a:xfrm>
          <a:prstGeom prst="line">
            <a:avLst/>
          </a:prstGeom>
          <a:ln w="25400">
            <a:solidFill>
              <a:srgbClr val="C77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07207" y="1920240"/>
            <a:ext cx="2084831" cy="1965960"/>
          </a:xfrm>
          <a:prstGeom prst="roundRect">
            <a:avLst>
              <a:gd name="adj" fmla="val 6000"/>
            </a:avLst>
          </a:prstGeom>
          <a:solidFill>
            <a:srgbClr val="E3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8375" y="219456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77700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8375" y="274320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4C5C"/>
                </a:solidFill>
                <a:latin typeface="Segoe UI"/>
              </a:rPr>
              <a:t>Procesamiento previo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8375" y="3218688"/>
            <a:ext cx="16824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D6E76"/>
                </a:solidFill>
                <a:latin typeface="Segoe UI"/>
              </a:rPr>
              <a:t>ESP32
filtrado · RMS · pulsos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10327" y="2880360"/>
            <a:ext cx="173737" cy="0"/>
          </a:xfrm>
          <a:prstGeom prst="line">
            <a:avLst/>
          </a:prstGeom>
          <a:ln w="25400">
            <a:solidFill>
              <a:srgbClr val="C77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11495" y="1920240"/>
            <a:ext cx="2084831" cy="1965960"/>
          </a:xfrm>
          <a:prstGeom prst="roundRect">
            <a:avLst>
              <a:gd name="adj" fmla="val 6000"/>
            </a:avLst>
          </a:prstGeom>
          <a:solidFill>
            <a:srgbClr val="E3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3" y="219456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77700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3" y="274320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4C5C"/>
                </a:solidFill>
                <a:latin typeface="Segoe UI"/>
              </a:rPr>
              <a:t>Comunicación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3" y="3218688"/>
            <a:ext cx="16824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D6E76"/>
                </a:solidFill>
                <a:latin typeface="Segoe UI"/>
              </a:rPr>
              <a:t>Wi-Fi / MQTT
publicación y comandos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14615" y="2880360"/>
            <a:ext cx="173737" cy="0"/>
          </a:xfrm>
          <a:prstGeom prst="line">
            <a:avLst/>
          </a:prstGeom>
          <a:ln w="25400">
            <a:solidFill>
              <a:srgbClr val="C77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15783" y="1920240"/>
            <a:ext cx="2084831" cy="1965960"/>
          </a:xfrm>
          <a:prstGeom prst="roundRect">
            <a:avLst>
              <a:gd name="adj" fmla="val 6000"/>
            </a:avLst>
          </a:prstGeom>
          <a:solidFill>
            <a:srgbClr val="E3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6952" y="219456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77700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274320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4C5C"/>
                </a:solidFill>
                <a:latin typeface="Segoe UI"/>
              </a:rPr>
              <a:t>Aplicación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3218688"/>
            <a:ext cx="16824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D6E76"/>
                </a:solidFill>
                <a:latin typeface="Segoe UI"/>
              </a:rPr>
              <a:t>Dashboard
métricas y reglas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18903" y="2880360"/>
            <a:ext cx="173737" cy="0"/>
          </a:xfrm>
          <a:prstGeom prst="line">
            <a:avLst/>
          </a:prstGeom>
          <a:ln w="25400">
            <a:solidFill>
              <a:srgbClr val="C77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720072" y="1920240"/>
            <a:ext cx="2084831" cy="1965960"/>
          </a:xfrm>
          <a:prstGeom prst="roundRect">
            <a:avLst>
              <a:gd name="adj" fmla="val 6000"/>
            </a:avLst>
          </a:prstGeom>
          <a:solidFill>
            <a:srgbClr val="0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219456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77700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743200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Interacción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218688"/>
            <a:ext cx="16824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9CED4"/>
                </a:solidFill>
                <a:latin typeface="Segoe UI"/>
              </a:rPr>
              <a:t>Asistente virtual
voz / chat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343400"/>
            <a:ext cx="11155680" cy="1417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5262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4C5C"/>
                </a:solidFill>
                <a:latin typeface="Segoe UI"/>
              </a:rPr>
              <a:t>Bucle de control: </a:t>
            </a:r>
            <a:r>
              <a:rPr sz="1400" b="0" i="0">
                <a:solidFill>
                  <a:srgbClr val="1B2A32"/>
                </a:solidFill>
                <a:latin typeface="Segoe UI"/>
              </a:rPr>
              <a:t>el dashboard y el asistente envían comandos; el ESP32 los valida con reglas locales (sobretemperatura, tiempo sin uso) y acciona el SSR sobre la terma.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43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D6E7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C77700"/>
                </a:solidFill>
                <a:latin typeface="Segoe UI"/>
              </a:rPr>
              <a:t>05 ·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4C5C"/>
                </a:solidFill>
                <a:latin typeface="Segoe UI"/>
              </a:rPr>
              <a:t>Lista de componentes y especificaciones técnicas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27632"/>
          <a:ext cx="11155680" cy="4032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3200400"/>
                <a:gridCol w="5303520"/>
              </a:tblGrid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Componente</a:t>
                      </a:r>
                    </a:p>
                  </a:txBody>
                  <a:tcPr marL="73152" marR="73152" marT="27432" marB="27432" anchor="ctr">
                    <a:solidFill>
                      <a:srgbClr val="0E4C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Modelo</a:t>
                      </a:r>
                    </a:p>
                  </a:txBody>
                  <a:tcPr marL="73152" marR="73152" marT="27432" marB="27432" anchor="ctr">
                    <a:solidFill>
                      <a:srgbClr val="0E4C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Especificación clave</a:t>
                      </a:r>
                    </a:p>
                  </a:txBody>
                  <a:tcPr marL="73152" marR="73152" marT="27432" marB="27432" anchor="ctr">
                    <a:solidFill>
                      <a:srgbClr val="0E4C5C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Microcontrolador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ESP32-WROOM-32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Dual-core 240 MHz, 520 KB SRAM, Wi-Fi + BLE, ADC 12 bits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Sensor de temperatura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DS18B20 (sumergible)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−55 a +125 °C, ±0,5 °C, 9–12 bits, 1-Wire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Sensor de corriente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SCT-013 (no invasivo)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Transformador de corriente 30/100 A, salida AC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Sensor de flujo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YF-S201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1–30 L/min, ±10 %, ≈450 pulsos/L, ½''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Actuador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SSR 25 A (Fotek SSR-25DA)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Optoaislado, 3–32 V DC / 24–380 V AC, cruce por cero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Buzzer (opcional)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Módulo buzzer activo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5 V, alerta sonora local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Acondicionamiento y fuente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Divisor + filtro RC / HLK-PM01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Adapta a 0–3,3 V; 220 V AC → 5 V DC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Enclosure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Caja ABS tipo riel DIN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1B2A32"/>
                          </a:solidFill>
                          <a:latin typeface="Segoe UI"/>
                        </a:rPr>
                        <a:t>IP54/IP65, separación de baja y alta tensión</a:t>
                      </a:r>
                    </a:p>
                  </a:txBody>
                  <a:tcPr marL="73152" marR="73152" marT="27432" marB="27432" anchor="ctr">
                    <a:solidFill>
                      <a:srgbClr val="E3ED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700"/>
                </a:solidFill>
                <a:latin typeface="Segoe UI"/>
              </a:rPr>
              <a:t>Mínimos cumplidos: 3 sensores · 1 actuador (SSR) · comunicación inalámbrica · interfaz con procesamiento previo · enclosure.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D6E7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C77700"/>
                </a:solidFill>
                <a:latin typeface="Segoe UI"/>
              </a:rPr>
              <a:t>05 ·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4C5C"/>
                </a:solidFill>
                <a:latin typeface="Segoe UI"/>
              </a:rPr>
              <a:t>Microcontrolador seleccionado: ESP32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1645920"/>
            <a:ext cx="3840480" cy="4114800"/>
          </a:xfrm>
          <a:prstGeom prst="roundRect">
            <a:avLst>
              <a:gd name="adj" fmla="val 5000"/>
            </a:avLst>
          </a:prstGeom>
          <a:solidFill>
            <a:srgbClr val="0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92440" y="1874519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ESP32-WROOM-32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246888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77700"/>
                </a:solidFill>
                <a:latin typeface="Segoe UI"/>
              </a:rPr>
              <a:t>2  </a:t>
            </a:r>
            <a:r>
              <a:rPr sz="1250" b="0" i="0">
                <a:solidFill>
                  <a:srgbClr val="C9D8DC"/>
                </a:solidFill>
                <a:latin typeface="Segoe UI"/>
              </a:rPr>
              <a:t>núcleos a 240 MHz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3072384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77700"/>
                </a:solidFill>
                <a:latin typeface="Segoe UI"/>
              </a:rPr>
              <a:t>520 KB  </a:t>
            </a:r>
            <a:r>
              <a:rPr sz="1250" b="0" i="0">
                <a:solidFill>
                  <a:srgbClr val="C9D8DC"/>
                </a:solidFill>
                <a:latin typeface="Segoe UI"/>
              </a:rPr>
              <a:t>SRAM + 4 MB 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3675888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77700"/>
                </a:solidFill>
                <a:latin typeface="Segoe UI"/>
              </a:rPr>
              <a:t>Wi-Fi + BLE  </a:t>
            </a:r>
            <a:r>
              <a:rPr sz="1250" b="0" i="0">
                <a:solidFill>
                  <a:srgbClr val="C9D8DC"/>
                </a:solidFill>
                <a:latin typeface="Segoe UI"/>
              </a:rPr>
              <a:t>conectividad integrada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279392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77700"/>
                </a:solidFill>
                <a:latin typeface="Segoe UI"/>
              </a:rPr>
              <a:t>12 bits  </a:t>
            </a:r>
            <a:r>
              <a:rPr sz="1250" b="0" i="0">
                <a:solidFill>
                  <a:srgbClr val="C9D8DC"/>
                </a:solidFill>
                <a:latin typeface="Segoe UI"/>
              </a:rPr>
              <a:t>ADC para sensores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882896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77700"/>
                </a:solidFill>
                <a:latin typeface="Segoe UI"/>
              </a:rPr>
              <a:t>~USD 3–6  </a:t>
            </a:r>
            <a:r>
              <a:rPr sz="1250" b="0" i="0">
                <a:solidFill>
                  <a:srgbClr val="C9D8DC"/>
                </a:solidFill>
                <a:latin typeface="Segoe UI"/>
              </a:rPr>
              <a:t>costo por unidad (est.)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4C5C"/>
                </a:solidFill>
                <a:latin typeface="Segoe UI"/>
              </a:rPr>
              <a:t>¿Por qué el ESP32?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94560"/>
            <a:ext cx="6949440" cy="84124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304288"/>
            <a:ext cx="6446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E4C5C"/>
                </a:solidFill>
                <a:latin typeface="Segoe UI"/>
              </a:rPr>
              <a:t>Conectividad nativa — </a:t>
            </a:r>
            <a:r>
              <a:rPr sz="1250" b="0" i="0">
                <a:solidFill>
                  <a:srgbClr val="1B2A32"/>
                </a:solidFill>
                <a:latin typeface="Segoe UI"/>
              </a:rPr>
              <a:t>Wi-Fi y Bluetooth integrados: elimina módulos externos (menor costo y complejidad).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1"/>
            <a:ext cx="6949440" cy="84124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246120"/>
            <a:ext cx="6446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E4C5C"/>
                </a:solidFill>
                <a:latin typeface="Segoe UI"/>
              </a:rPr>
              <a:t>Cómputo suficiente — </a:t>
            </a:r>
            <a:r>
              <a:rPr sz="1250" b="0" i="0">
                <a:solidFill>
                  <a:srgbClr val="1B2A32"/>
                </a:solidFill>
                <a:latin typeface="Segoe UI"/>
              </a:rPr>
              <a:t>doble núcleo para el procesamiento previo en el nodo (RMS, filtrado, pulsos, reglas).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78224"/>
            <a:ext cx="6949440" cy="84124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187952"/>
            <a:ext cx="6446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E4C5C"/>
                </a:solidFill>
                <a:latin typeface="Segoe UI"/>
              </a:rPr>
              <a:t>Periféricos adecuados — </a:t>
            </a:r>
            <a:r>
              <a:rPr sz="1250" b="0" i="0">
                <a:solidFill>
                  <a:srgbClr val="1B2A32"/>
                </a:solidFill>
                <a:latin typeface="Segoe UI"/>
              </a:rPr>
              <a:t>ADC, temporizadores por hardware, GPIO para 1-Wire y control del SSR.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20056"/>
            <a:ext cx="6949440" cy="84124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5129784"/>
            <a:ext cx="6446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E4C5C"/>
                </a:solidFill>
                <a:latin typeface="Segoe UI"/>
              </a:rPr>
              <a:t>Bajo costo y disponibilidad — </a:t>
            </a:r>
            <a:r>
              <a:rPr sz="1250" b="0" i="0">
                <a:solidFill>
                  <a:srgbClr val="1B2A32"/>
                </a:solidFill>
                <a:latin typeface="Segoe UI"/>
              </a:rPr>
              <a:t>alternativa económica frente a una computadora de placa única.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743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D6E7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C77700"/>
                </a:solidFill>
                <a:latin typeface="Segoe UI"/>
              </a:rPr>
              <a:t>05 ·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4C5C"/>
                </a:solidFill>
                <a:latin typeface="Segoe UI"/>
              </a:rPr>
              <a:t>Diagrama de bloques del sistema propuesto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E3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11095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4C5C"/>
                </a:solidFill>
                <a:latin typeface="Segoe UI"/>
              </a:rPr>
              <a:t>Sensor de temperatura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5856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D6E76"/>
                </a:solidFill>
                <a:latin typeface="Segoe UI"/>
              </a:rPr>
              <a:t>DS18B20 (1-Wire)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38728" y="2240280"/>
            <a:ext cx="621792" cy="0"/>
          </a:xfrm>
          <a:prstGeom prst="line">
            <a:avLst/>
          </a:prstGeom>
          <a:ln w="19050">
            <a:solidFill>
              <a:srgbClr val="5D6E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2862072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E3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9008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4C5C"/>
                </a:solidFill>
                <a:latin typeface="Segoe UI"/>
              </a:rPr>
              <a:t>Sensor de corriente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D6E76"/>
                </a:solidFill>
                <a:latin typeface="Segoe UI"/>
              </a:rPr>
              <a:t>SCT-013 (no invasivo)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38728" y="3319272"/>
            <a:ext cx="621792" cy="0"/>
          </a:xfrm>
          <a:prstGeom prst="line">
            <a:avLst/>
          </a:prstGeom>
          <a:ln w="19050">
            <a:solidFill>
              <a:srgbClr val="5D6E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3941063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E3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69079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4C5C"/>
                </a:solidFill>
                <a:latin typeface="Segoe UI"/>
              </a:rPr>
              <a:t>Sensor de flujo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1655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D6E76"/>
                </a:solidFill>
                <a:latin typeface="Segoe UI"/>
              </a:rPr>
              <a:t>YF-S201 (pulsos)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38728" y="4398264"/>
            <a:ext cx="621792" cy="0"/>
          </a:xfrm>
          <a:prstGeom prst="line">
            <a:avLst/>
          </a:prstGeom>
          <a:ln w="19050">
            <a:solidFill>
              <a:srgbClr val="5D6E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51960" y="1783080"/>
            <a:ext cx="4114800" cy="3236976"/>
          </a:xfrm>
          <a:prstGeom prst="roundRect">
            <a:avLst>
              <a:gd name="adj" fmla="val 5000"/>
            </a:avLst>
          </a:prstGeom>
          <a:solidFill>
            <a:srgbClr val="FB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51960" y="1783080"/>
            <a:ext cx="4114800" cy="566928"/>
          </a:xfrm>
          <a:prstGeom prst="roundRect">
            <a:avLst>
              <a:gd name="adj" fmla="val 5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883664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ESP32  —  procesamiento previo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542032"/>
            <a:ext cx="37490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 i="0">
                <a:solidFill>
                  <a:srgbClr val="1B2A32"/>
                </a:solidFill>
                <a:latin typeface="Segoe UI"/>
              </a:rPr>
              <a:t>Acondicionamiento y filtrado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 i="0">
                <a:solidFill>
                  <a:srgbClr val="1B2A32"/>
                </a:solidFill>
                <a:latin typeface="Segoe UI"/>
              </a:rPr>
              <a:t>RMS · media móvil · conteo de pulsos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 i="0">
                <a:solidFill>
                  <a:srgbClr val="1B2A32"/>
                </a:solidFill>
                <a:latin typeface="Segoe UI"/>
              </a:rPr>
              <a:t>Reglas locales de seguridad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 i="0">
                <a:solidFill>
                  <a:srgbClr val="1B2A32"/>
                </a:solidFill>
                <a:latin typeface="Segoe UI"/>
              </a:rPr>
              <a:t>Wi-Fi + MQTT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 i="0">
                <a:solidFill>
                  <a:srgbClr val="1B2A32"/>
                </a:solidFill>
                <a:latin typeface="Segoe UI"/>
              </a:rPr>
              <a:t>ADC 12 bits · temporizadores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7373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3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86537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4C5C"/>
                </a:solidFill>
                <a:latin typeface="Segoe UI"/>
              </a:rPr>
              <a:t>SSR (actuador)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21284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D6E76"/>
                </a:solidFill>
                <a:latin typeface="Segoe UI"/>
              </a:rPr>
              <a:t>relé de estado sólido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28346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96265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Terma (carga)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31012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9CED4"/>
                </a:solidFill>
                <a:latin typeface="Segoe UI"/>
              </a:rPr>
              <a:t>220 V AC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393192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404164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5D6E76"/>
                </a:solidFill>
                <a:latin typeface="Segoe UI"/>
              </a:rPr>
              <a:t>Buzzer (opcional)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85048" y="2194560"/>
            <a:ext cx="502920" cy="0"/>
          </a:xfrm>
          <a:prstGeom prst="line">
            <a:avLst/>
          </a:prstGeom>
          <a:ln w="22860">
            <a:solidFill>
              <a:srgbClr val="C77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2670048"/>
            <a:ext cx="0" cy="146304"/>
          </a:xfrm>
          <a:prstGeom prst="line">
            <a:avLst/>
          </a:prstGeom>
          <a:ln w="22860">
            <a:solidFill>
              <a:srgbClr val="C77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385048" y="3566160"/>
            <a:ext cx="502920" cy="640080"/>
          </a:xfrm>
          <a:prstGeom prst="line">
            <a:avLst/>
          </a:prstGeom>
          <a:ln w="17780">
            <a:solidFill>
              <a:srgbClr val="5D6E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251960" y="5257800"/>
            <a:ext cx="4114800" cy="822960"/>
          </a:xfrm>
          <a:prstGeom prst="roundRect">
            <a:avLst>
              <a:gd name="adj" fmla="val 6000"/>
            </a:avLst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5385816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F5B43"/>
                </a:solidFill>
                <a:latin typeface="Segoe UI"/>
              </a:rPr>
              <a:t>Nube / Broker MQTT</a:t>
            </a:r>
            <a:r>
              <a:rPr sz="1200" b="0" i="0">
                <a:solidFill>
                  <a:srgbClr val="1F5B43"/>
                </a:solidFill>
                <a:latin typeface="Segoe UI"/>
              </a:rPr>
              <a:t>  ·  Dashboard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5257800"/>
            <a:ext cx="2743200" cy="822960"/>
          </a:xfrm>
          <a:prstGeom prst="roundRect">
            <a:avLst>
              <a:gd name="adj" fmla="val 6000"/>
            </a:avLst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5385816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F5B43"/>
                </a:solidFill>
                <a:latin typeface="Segoe UI"/>
              </a:rPr>
              <a:t>Asistente virtual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309360" y="5074920"/>
            <a:ext cx="0" cy="155448"/>
          </a:xfrm>
          <a:prstGeom prst="line">
            <a:avLst/>
          </a:prstGeom>
          <a:ln w="22860">
            <a:solidFill>
              <a:srgbClr val="1F5B43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385048" y="5669280"/>
            <a:ext cx="502920" cy="0"/>
          </a:xfrm>
          <a:prstGeom prst="line">
            <a:avLst/>
          </a:prstGeom>
          <a:ln w="20320">
            <a:solidFill>
              <a:srgbClr val="1F5B43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224528" y="50292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D6E76"/>
                </a:solidFill>
                <a:latin typeface="Segoe UI"/>
              </a:rPr>
              <a:t>Wi-Fi / MQTT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743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D6E76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C77700"/>
                </a:solidFill>
                <a:latin typeface="Segoe UI"/>
              </a:rPr>
              <a:t>06 · OBJETIVOS Y ALCANCES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4C5C"/>
                </a:solidFill>
                <a:latin typeface="Segoe UI"/>
              </a:rPr>
              <a:t>Objetivos articulados con el título y la propuesta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27632"/>
            <a:ext cx="11155680" cy="960120"/>
          </a:xfrm>
          <a:prstGeom prst="roundRect">
            <a:avLst>
              <a:gd name="adj" fmla="val 5000"/>
            </a:avLst>
          </a:prstGeom>
          <a:solidFill>
            <a:srgbClr val="0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1" i="0">
                <a:solidFill>
                  <a:srgbClr val="C77700"/>
                </a:solidFill>
                <a:latin typeface="Segoe UI"/>
              </a:rPr>
              <a:t>Objetivo general:  </a:t>
            </a:r>
            <a:r>
              <a:rPr sz="1550" b="0" i="0">
                <a:solidFill>
                  <a:srgbClr val="FFFFFF"/>
                </a:solidFill>
                <a:latin typeface="Segoe UI"/>
              </a:rPr>
              <a:t>diseñar e implementar un prototipo IoT con ESP32 que monitoree, controle remotamente y gestione energéticamente una terma doméstica.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77700"/>
                </a:solidFill>
                <a:latin typeface="Segoe UI"/>
              </a:rPr>
              <a:t>OE1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834640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2A32"/>
                </a:solidFill>
                <a:latin typeface="Segoe UI"/>
              </a:rPr>
              <a:t>Leer de forma confiable los 3 sensores (temperatura, corriente y flujo).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834640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77700"/>
                </a:solidFill>
                <a:latin typeface="Segoe UI"/>
              </a:rPr>
              <a:t>OE2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834640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2A32"/>
                </a:solidFill>
                <a:latin typeface="Segoe UI"/>
              </a:rPr>
              <a:t>Procesar previamente en el nodo (RMS, suavizado y conteo de pulsos).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6732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77700"/>
                </a:solidFill>
                <a:latin typeface="Segoe UI"/>
              </a:rPr>
              <a:t>OE3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767328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2A32"/>
                </a:solidFill>
                <a:latin typeface="Segoe UI"/>
              </a:rPr>
              <a:t>Transmitir por Wi-Fi/MQTT y visualizar en un dashboard remoto.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76732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77700"/>
                </a:solidFill>
                <a:latin typeface="Segoe UI"/>
              </a:rPr>
              <a:t>OE4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767328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2A32"/>
                </a:solidFill>
                <a:latin typeface="Segoe UI"/>
              </a:rPr>
              <a:t>Accionar la carga de forma remota y automática mediante un SSR.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00016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77700"/>
                </a:solidFill>
                <a:latin typeface="Segoe UI"/>
              </a:rPr>
              <a:t>OE5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700016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2A32"/>
                </a:solidFill>
                <a:latin typeface="Segoe UI"/>
              </a:rPr>
              <a:t>Calcular métricas energéticas y el estado de calentamiento.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700016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77700"/>
                </a:solidFill>
                <a:latin typeface="Segoe UI"/>
              </a:rPr>
              <a:t>OE6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700016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2A32"/>
                </a:solidFill>
                <a:latin typeface="Segoe UI"/>
              </a:rPr>
              <a:t>Ejecutar reglas automáticas (temperatura objetivo y tiempo sin uso).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32704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77700"/>
                </a:solidFill>
                <a:latin typeface="Segoe UI"/>
              </a:rPr>
              <a:t>OE7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2A32"/>
                </a:solidFill>
                <a:latin typeface="Segoe UI"/>
              </a:rPr>
              <a:t>Habilitar comandos por asistente virtual (opcional, segunda etapa).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632704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77700"/>
                </a:solidFill>
                <a:latin typeface="Segoe UI"/>
              </a:rPr>
              <a:t>OE8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632704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2A32"/>
                </a:solidFill>
                <a:latin typeface="Segoe UI"/>
              </a:rPr>
              <a:t>Validar el prototipo experimentalmente.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743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D6E76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C77700"/>
                </a:solidFill>
                <a:latin typeface="Segoe UI"/>
              </a:rPr>
              <a:t>06 · OBJETIVOS Y ALCANCES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4C5C"/>
                </a:solidFill>
                <a:latin typeface="Segoe UI"/>
              </a:rPr>
              <a:t>Alcances y limitaciones del prototipo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64208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E3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E4C5C"/>
                </a:solidFill>
                <a:latin typeface="Segoe UI"/>
              </a:rPr>
              <a:t>Alcances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9572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700"/>
                </a:solidFill>
                <a:latin typeface="Segoe UI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95728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Prototipo funcional con la terma como caso de uso principal.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7121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700"/>
                </a:solidFill>
                <a:latin typeface="Segoe UI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71216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Medición de temperatura, corriente y flujo de agua.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467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700"/>
                </a:solidFill>
                <a:latin typeface="Segoe UI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46704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Control remoto y automático de la carga mediante SSR.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22191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700"/>
                </a:solidFill>
                <a:latin typeface="Segoe UI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Reglas automáticas: temperatura objetivo y tiempo sin uso.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9767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700"/>
                </a:solidFill>
                <a:latin typeface="Segoe UI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297679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Comunicación inalámbrica y dashboard con métricas.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73167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700"/>
                </a:solidFill>
                <a:latin typeface="Segoe UI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773167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Interfaz opcional de asistente virtual.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48655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700"/>
                </a:solidFill>
                <a:latin typeface="Segoe UI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48655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Procesamiento previo y enclosure del prototipo.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664208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84708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E4C5C"/>
                </a:solidFill>
                <a:latin typeface="Segoe UI"/>
              </a:rPr>
              <a:t>Limitaciones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39572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D6E76"/>
                </a:solidFill>
                <a:latin typeface="Segoe UI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395728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Validación en entorno controlado; no es producto comercial.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87121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D6E76"/>
                </a:solidFill>
                <a:latin typeface="Segoe UI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871216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Asistente virtual opcional y de segunda prioridad.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3467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D6E76"/>
                </a:solidFill>
                <a:latin typeface="Segoe UI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346704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Requiere Internet para voz y servicios en la nube.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822191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D6E76"/>
                </a:solidFill>
                <a:latin typeface="Segoe UI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822191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Medición de corriente por estimación (no de laboratorio).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29767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D6E76"/>
                </a:solidFill>
                <a:latin typeface="Segoe UI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297679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Control on-off; sin regulación proporcional de potencia.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773167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D6E76"/>
                </a:solidFill>
                <a:latin typeface="Segoe UI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773167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Restringido a terma monofásica de 220 V AC.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248655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D6E76"/>
                </a:solidFill>
                <a:latin typeface="Segoe UI"/>
              </a:rPr>
              <a:t>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5248655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B2A32"/>
                </a:solidFill>
                <a:latin typeface="Segoe UI"/>
              </a:rPr>
              <a:t>Ciberseguridad avanzada fuera del alcance de esta etapa.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743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D6E76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77700"/>
                </a:solidFill>
                <a:latin typeface="Segoe U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Conclusiones y siguientes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6070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700" b="0" i="0">
                <a:solidFill>
                  <a:srgbClr val="D7E3E6"/>
                </a:solidFill>
                <a:latin typeface="Segoe UI"/>
              </a:rPr>
              <a:t>Solución IoT viable, económica y fundamentada para monitorear, controlar y gestionar la terma doméstica.</a:t>
            </a:r>
          </a:p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700" b="0" i="0">
                <a:solidFill>
                  <a:srgbClr val="D7E3E6"/>
                </a:solidFill>
                <a:latin typeface="Segoe UI"/>
              </a:rPr>
              <a:t>Prioridad: asegurar los 3 sensores, la transmisión inalámbrica y el accionamiento remoto y automático del SSR.</a:t>
            </a:r>
          </a:p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700" b="0" i="0">
                <a:solidFill>
                  <a:srgbClr val="D7E3E6"/>
                </a:solidFill>
                <a:latin typeface="Segoe UI"/>
              </a:rPr>
              <a:t>El asistente virtual se desarrolla en paralelo y se habilita tras estabilizar las entradas de datos.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949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77700"/>
                </a:solidFill>
                <a:latin typeface="Segoe UI"/>
              </a:rPr>
              <a:t>Preguntas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4688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egoe UI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B9CED4"/>
                </a:solidFill>
                <a:latin typeface="Segoe UI"/>
              </a:rPr>
              <a:t>Sistema IoT Inteligente para una Terma Doméstica mediante Asistente Virtual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43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77700"/>
                </a:solidFill>
                <a:latin typeface="Segoe UI"/>
              </a:rPr>
              <a:t>Ronda de 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